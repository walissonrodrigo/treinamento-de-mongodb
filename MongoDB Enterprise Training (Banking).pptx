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3" r:id="rId14"/>
    <p:sldId id="304" r:id="rId15"/>
    <p:sldId id="310" r:id="rId16"/>
    <p:sldId id="268" r:id="rId17"/>
    <p:sldId id="309" r:id="rId18"/>
    <p:sldId id="311" r:id="rId19"/>
    <p:sldId id="269" r:id="rId20"/>
    <p:sldId id="270" r:id="rId21"/>
    <p:sldId id="308" r:id="rId22"/>
    <p:sldId id="271" r:id="rId23"/>
    <p:sldId id="305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34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05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97D5-1459-9E81-DB93-2798FABFC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C1150-5158-CFEE-1CE5-D6D381055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485F0-A538-6F0F-D6D3-1BE919226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A78D1-9BA0-F0D6-0334-DD00B4B8F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46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8467-4401-F8A4-A834-072EA8AB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EDA98-BCEA-19D8-7A88-FCF7DBF0B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B7013-455A-ED07-93E3-A5A3A74E9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FEB27-6C56-9DA9-82F0-A3B84EAAA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44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9AAEF-1079-8B70-5376-E4677E3EF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6EF5F-81D2-1FDC-201E-23C3DA928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53C1A-0EBA-5D64-CE0C-7ADC58A92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B0D2F-C90C-D1F4-AD81-7F02B84581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86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46D5-E290-145B-A848-B34578E0D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0F0DE-448C-86B5-43AD-A86167ABF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AEC7E-28F8-EC02-C9A4-6FCBB7623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3C583-D6BB-F3C2-BF8C-EA0E9FF09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34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6D932-F995-2412-7D8E-1245A43B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AE6B8-F932-15E3-06D3-53723B001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07D80-4986-E7F4-4E2A-C8C44F004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76596-9203-C01D-72B6-5C883ACB9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0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01615-0184-1BDD-C895-4CDC13CA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71EBB-80C5-F0EB-A7AC-4899E37CC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E44BE-A9A9-C24A-3C47-9D3116953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3DE8F-5A0C-D082-D254-9F0390ED0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72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8F7E0-EC8D-0A78-A761-FDA11045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9C6A7-F517-3C50-1F40-7C3434EC4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23E5B-C00F-768E-8304-94D2F65D4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E6399-6560-81D3-4B60-3A2720EC0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65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766" y="1059507"/>
            <a:ext cx="173846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8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SANTANDER BRASIL</a:t>
            </a:r>
            <a:endParaRPr lang="en-US" sz="1080" dirty="0"/>
          </a:p>
        </p:txBody>
      </p:sp>
      <p:sp>
        <p:nvSpPr>
          <p:cNvPr id="3" name="Text 1"/>
          <p:cNvSpPr/>
          <p:nvPr/>
        </p:nvSpPr>
        <p:spPr>
          <a:xfrm>
            <a:off x="3196042" y="1737271"/>
            <a:ext cx="2751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925742" y="2575471"/>
            <a:ext cx="52923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NoSQL para Empresas Modernas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46622" y="3352651"/>
            <a:ext cx="40507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Avançado para Equipes de TI Bancária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03448" y="4049762"/>
            <a:ext cx="26821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 • Janeiro 2026 • </a:t>
            </a:r>
            <a:r>
              <a:rPr lang="en-US" sz="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Horas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do Treinamento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3268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 e Evolução do MongoDB (20 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Fundamentais e Arquitetura (25 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Semântica e Modelo de Dados (30 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CRUD e Operadores (35 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e Otimização (35 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em Serviços Financeiros (25 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Segurança, Conformidade e GDPR (25 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Recursos, Comunidade e Discussão (25 min)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Breve História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Projeto iniciado pela 10gen, que se tornou MongoDB Inc.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Lançamento público do MongoDB com crescimento exponencial (2000% desde 2009)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Reconhecido como a comunidade NoSQL de crescimento mais rápido do mundo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Lançamento do MongoDB Atlas (plataforma cloud)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IPO - líder em bancos de dados documentais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2024-2025: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Integração com IA/ML, Vector Search e processamento em tempo real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8083296" cy="1527870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8083296" cy="1527870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Motivação: O Problema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478161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Tradicional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76300" y="1950541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Esquemas rígidos, difíceis de alterar, problema de impedância entre objetos e tabelas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3234630"/>
            <a:ext cx="75780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6300" y="3707011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JSON, schemaless, escalabilidade horizontal, desenvolvimento ágil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Exponencial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Perguntas sobre MongoDB crescem 3x mais rápido que outras tecnologias Big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Skills: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Habilidade com MongoDB crescendo 73% ao ano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Meetup.com: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~500% crescimento desde 2010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Adoção Global: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Usada por Fortune 500 em banca, fintech, e-commerce, saúde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Milhões de desenvolvedores, 100+ User Groups em todo o mundo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2"/>
            <a:ext cx="8083296" cy="1636066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59919"/>
            <a:ext cx="8083296" cy="1710906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vs SQL: Diferentes Paradigmas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255388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(Relacional)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1529678"/>
            <a:ext cx="7277100" cy="165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fixo (schema)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Normalização obrigatória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garantido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 vertical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complexos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76300" y="3262633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(MongoDB)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8700" y="3536923"/>
            <a:ext cx="7277100" cy="165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Schemaless/flexível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Denormalização natural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Transações ACID (7.0+)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 horizontal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JOINs, dados embutidos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Fundamental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(BD):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Coleção de collections (schema organizador)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Equivalente a uma tabela em SQL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Registro BSON (Binary JSON) com estrutura flexível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Chave-valor dentro do documento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Estrutura B-tree para otimização de queries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Conjuntos de réplicas para alta disponibilidade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e BSON: O Coração do MongoDB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(JavaScript Object Notation):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Formato de texto legível por humanos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308952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BSON: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Extensão binária do JSON que MongoDB usa internamente (suporta mais tipos)</a:t>
            </a:r>
            <a:endParaRPr lang="en-US" sz="105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3BDB544-8705-BA19-247E-A0A453DC0E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50" t="37255" r="7091" b="44323"/>
          <a:stretch>
            <a:fillRect/>
          </a:stretch>
        </p:blipFill>
        <p:spPr>
          <a:xfrm>
            <a:off x="609599" y="1512391"/>
            <a:ext cx="8085472" cy="955871"/>
          </a:xfrm>
          <a:prstGeom prst="rect">
            <a:avLst/>
          </a:prstGeom>
        </p:spPr>
      </p:pic>
      <p:pic>
        <p:nvPicPr>
          <p:cNvPr id="7" name="Imagem 6" descr="Texto">
            <a:extLst>
              <a:ext uri="{FF2B5EF4-FFF2-40B4-BE49-F238E27FC236}">
                <a16:creationId xmlns:a16="http://schemas.microsoft.com/office/drawing/2014/main" id="{3A63C49C-6B31-65FA-A9F7-473D047B2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27" t="65770" r="7614" b="14293"/>
          <a:stretch>
            <a:fillRect/>
          </a:stretch>
        </p:blipFill>
        <p:spPr>
          <a:xfrm>
            <a:off x="609601" y="3429029"/>
            <a:ext cx="8083296" cy="10341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Dados Suportados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249561"/>
            <a:ext cx="7696200" cy="271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String, Number, Boolean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Tipos básicos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ObjectId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Identificador único automático (_id)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Timestamps e datas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Listas de valores de qualquer tipo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Document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Documentos dentro de documentos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Valores ausentes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Expressões regulares nativas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Binary, Decimal128, Long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Tipos especializados para finanças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Schemaless: Flexibilidade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collection pode ter documentos com estruturas diferentes: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2862114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Alterações de schema sem downtime - evolução natural do sistema</a:t>
            </a:r>
            <a:endParaRPr lang="en-US" sz="9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0E3FB50-5CDA-E5A7-9572-3D1468953F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00"/>
          <a:stretch>
            <a:fillRect/>
          </a:stretch>
        </p:blipFill>
        <p:spPr>
          <a:xfrm>
            <a:off x="609600" y="1464764"/>
            <a:ext cx="8083296" cy="1084420"/>
          </a:xfrm>
          <a:prstGeom prst="rect">
            <a:avLst/>
          </a:prstGeom>
        </p:spPr>
      </p:pic>
      <p:pic>
        <p:nvPicPr>
          <p:cNvPr id="12" name="Imagem 11" descr="Forma&#10;&#10;O conteúdo gerado por IA pode estar incorreto.">
            <a:extLst>
              <a:ext uri="{FF2B5EF4-FFF2-40B4-BE49-F238E27FC236}">
                <a16:creationId xmlns:a16="http://schemas.microsoft.com/office/drawing/2014/main" id="{307B2170-19E0-98A8-22BC-29DCE66DE3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600"/>
          <a:stretch>
            <a:fillRect/>
          </a:stretch>
        </p:blipFill>
        <p:spPr>
          <a:xfrm>
            <a:off x="609600" y="3097710"/>
            <a:ext cx="80832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CREATE: Inserindo Documentos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8745" y="2837827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retorna ObjectId automaticamente como _id</a:t>
            </a:r>
            <a:endParaRPr lang="en-US" sz="900" dirty="0"/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8D9430BC-7046-6554-3650-A991B0E0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14"/>
          <a:stretch>
            <a:fillRect/>
          </a:stretch>
        </p:blipFill>
        <p:spPr>
          <a:xfrm>
            <a:off x="627890" y="1053674"/>
            <a:ext cx="8065006" cy="1709755"/>
          </a:xfrm>
          <a:prstGeom prst="rect">
            <a:avLst/>
          </a:prstGeom>
        </p:spPr>
      </p:pic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C94B9CC4-4947-EEC6-E414-58761A60A0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323"/>
          <a:stretch>
            <a:fillRect/>
          </a:stretch>
        </p:blipFill>
        <p:spPr>
          <a:xfrm>
            <a:off x="618745" y="3146612"/>
            <a:ext cx="8074151" cy="1865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Consultando Dados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69218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find() retorna um cursor - lazy evaluation</a:t>
            </a:r>
            <a:endParaRPr lang="en-US" sz="900" dirty="0"/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D994E773-2E92-F413-1AC7-CA92022BE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382"/>
          <a:stretch>
            <a:fillRect/>
          </a:stretch>
        </p:blipFill>
        <p:spPr>
          <a:xfrm>
            <a:off x="609600" y="1550336"/>
            <a:ext cx="8088978" cy="32990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F6403-665A-370E-D14F-D07152D1F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D8AE99-60F7-8ADC-32DC-807767080E62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</a:t>
            </a:r>
            <a:r>
              <a:rPr lang="en-US" sz="27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Consultando</a:t>
            </a: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</a:t>
            </a:r>
            <a:endParaRPr lang="en-US" sz="2700" b="1" dirty="0">
              <a:solidFill>
                <a:srgbClr val="FF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561D1B-693E-8045-6954-72FA3EB8A214}"/>
              </a:ext>
            </a:extLst>
          </p:cNvPr>
          <p:cNvSpPr/>
          <p:nvPr/>
        </p:nvSpPr>
        <p:spPr>
          <a:xfrm>
            <a:off x="609600" y="1169218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cs typeface="Arial" pitchFamily="34" charset="-120"/>
              </a:rPr>
              <a:t>Find </a:t>
            </a:r>
            <a:r>
              <a:rPr lang="en-US" sz="900" dirty="0" err="1">
                <a:solidFill>
                  <a:srgbClr val="A0A0A0"/>
                </a:solidFill>
                <a:latin typeface="Arial" pitchFamily="34" charset="0"/>
                <a:cs typeface="Arial" pitchFamily="34" charset="-120"/>
              </a:rPr>
              <a:t>Básico</a:t>
            </a:r>
            <a:endParaRPr lang="en-US" sz="900" dirty="0"/>
          </a:p>
        </p:txBody>
      </p:sp>
      <p:pic>
        <p:nvPicPr>
          <p:cNvPr id="6" name="Imagem 5" descr="Forma&#10;&#10;O conteúdo gerado por IA pode estar incorreto.">
            <a:extLst>
              <a:ext uri="{FF2B5EF4-FFF2-40B4-BE49-F238E27FC236}">
                <a16:creationId xmlns:a16="http://schemas.microsoft.com/office/drawing/2014/main" id="{20805C0C-E038-AD6A-82D9-1F18E3502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00"/>
          <a:stretch>
            <a:fillRect/>
          </a:stretch>
        </p:blipFill>
        <p:spPr>
          <a:xfrm>
            <a:off x="609600" y="1402862"/>
            <a:ext cx="8083296" cy="1351657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FD1A45C-8FC6-9E1D-C889-C21F35D800A5}"/>
              </a:ext>
            </a:extLst>
          </p:cNvPr>
          <p:cNvSpPr/>
          <p:nvPr/>
        </p:nvSpPr>
        <p:spPr>
          <a:xfrm>
            <a:off x="609600" y="2828173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 err="1">
                <a:solidFill>
                  <a:srgbClr val="A0A0A0"/>
                </a:solidFill>
                <a:latin typeface="Arial" pitchFamily="34" charset="0"/>
                <a:cs typeface="Arial" pitchFamily="34" charset="-120"/>
              </a:rPr>
              <a:t>Projeção</a:t>
            </a:r>
            <a:r>
              <a:rPr lang="en-US" sz="900" dirty="0">
                <a:solidFill>
                  <a:srgbClr val="A0A0A0"/>
                </a:solidFill>
                <a:latin typeface="Arial" pitchFamily="34" charset="0"/>
                <a:cs typeface="Arial" pitchFamily="34" charset="-120"/>
              </a:rPr>
              <a:t> (Select Fields)</a:t>
            </a:r>
            <a:endParaRPr lang="en-US" sz="900" dirty="0"/>
          </a:p>
        </p:txBody>
      </p:sp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66033AC0-C163-F735-C875-71C17B81E8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600"/>
          <a:stretch>
            <a:fillRect/>
          </a:stretch>
        </p:blipFill>
        <p:spPr>
          <a:xfrm>
            <a:off x="609600" y="3137918"/>
            <a:ext cx="8083296" cy="13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6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0ECFD-691A-6A04-55B2-99A60AC72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5EC5D3-1786-C320-2A4C-D523A52B6949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 </a:t>
            </a:r>
            <a:r>
              <a:rPr lang="en-US" sz="27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Consultando</a:t>
            </a: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</a:t>
            </a:r>
            <a:endParaRPr lang="en-US" sz="2700" b="1" dirty="0">
              <a:solidFill>
                <a:srgbClr val="FF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F8C177-20AA-1054-8802-C1BC14992FA7}"/>
              </a:ext>
            </a:extLst>
          </p:cNvPr>
          <p:cNvSpPr/>
          <p:nvPr/>
        </p:nvSpPr>
        <p:spPr>
          <a:xfrm>
            <a:off x="609600" y="1107749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cs typeface="Arial" pitchFamily="34" charset="-120"/>
              </a:rPr>
              <a:t>Sort e Limit</a:t>
            </a:r>
            <a:endParaRPr lang="en-US" sz="9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EF9B5FB-5D15-5404-E54F-60C0E0BA978C}"/>
              </a:ext>
            </a:extLst>
          </p:cNvPr>
          <p:cNvSpPr/>
          <p:nvPr/>
        </p:nvSpPr>
        <p:spPr>
          <a:xfrm>
            <a:off x="609600" y="2996956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cs typeface="Arial" pitchFamily="34" charset="-120"/>
              </a:rPr>
              <a:t>Find One</a:t>
            </a:r>
            <a:endParaRPr lang="en-US" sz="900" dirty="0"/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A00E243E-5792-8E81-A520-1ADAA1B26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00"/>
          <a:stretch>
            <a:fillRect/>
          </a:stretch>
        </p:blipFill>
        <p:spPr>
          <a:xfrm>
            <a:off x="609600" y="1329208"/>
            <a:ext cx="8083296" cy="1606279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33A89AE3-4FDF-CFA2-78E7-D6821523C08B}"/>
              </a:ext>
            </a:extLst>
          </p:cNvPr>
          <p:cNvSpPr/>
          <p:nvPr/>
        </p:nvSpPr>
        <p:spPr>
          <a:xfrm>
            <a:off x="609600" y="3990425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cs typeface="Arial" pitchFamily="34" charset="-120"/>
              </a:rPr>
              <a:t>Count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0A6C832-BCD0-479D-BA53-F21355DDA9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600"/>
          <a:stretch>
            <a:fillRect/>
          </a:stretch>
        </p:blipFill>
        <p:spPr>
          <a:xfrm>
            <a:off x="609600" y="3213222"/>
            <a:ext cx="8083296" cy="71573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9F9E775-96EA-B392-2CC7-2D08BBEBBB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600"/>
          <a:stretch>
            <a:fillRect/>
          </a:stretch>
        </p:blipFill>
        <p:spPr>
          <a:xfrm>
            <a:off x="609600" y="4211884"/>
            <a:ext cx="8083296" cy="70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5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0DED6-0D18-FEDC-432C-6C2E6952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6EE273-64A9-4AE5-2C7D-9796C28737B6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Modificando Dados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80A7A2-4CD6-E25F-DCB8-01D1CE87CB9C}"/>
              </a:ext>
            </a:extLst>
          </p:cNvPr>
          <p:cNvSpPr/>
          <p:nvPr/>
        </p:nvSpPr>
        <p:spPr>
          <a:xfrm>
            <a:off x="609600" y="1070158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atômicas no nível de documento</a:t>
            </a:r>
            <a:endParaRPr lang="en-US" sz="900" dirty="0"/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2038B3D-2FCE-0FAF-D7BF-25E27D3C86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42" b="42827"/>
          <a:stretch>
            <a:fillRect/>
          </a:stretch>
        </p:blipFill>
        <p:spPr>
          <a:xfrm>
            <a:off x="609599" y="1279345"/>
            <a:ext cx="8063131" cy="23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69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Modificando Dados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70158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atômicas no nível de documento</a:t>
            </a:r>
            <a:endParaRPr lang="en-US" sz="900" dirty="0"/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3FBC05D-1C62-1EFD-7D15-41A16A198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544" r="-142"/>
          <a:stretch>
            <a:fillRect/>
          </a:stretch>
        </p:blipFill>
        <p:spPr>
          <a:xfrm>
            <a:off x="609599" y="1362456"/>
            <a:ext cx="8063131" cy="17434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122EA-774F-B321-37A7-75165A92B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86BAE4-6604-A9C0-5ED8-A11FD7D7BA37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Modificando Dados</a:t>
            </a:r>
            <a:endParaRPr lang="en-US" sz="2700" dirty="0"/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6099431-545C-9061-6380-190C8C83C3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352"/>
          <a:stretch>
            <a:fillRect/>
          </a:stretch>
        </p:blipFill>
        <p:spPr>
          <a:xfrm>
            <a:off x="609600" y="1189378"/>
            <a:ext cx="8085262" cy="31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3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74E46-0FA6-B155-12EB-69FCC2C8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03490E-CB67-3E62-9175-08A15F468B2F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Modificando Dados</a:t>
            </a:r>
            <a:endParaRPr lang="en-US" sz="2700" dirty="0"/>
          </a:p>
        </p:txBody>
      </p:sp>
      <p:pic>
        <p:nvPicPr>
          <p:cNvPr id="7" name="Imagem 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2A4E26E-7C14-1EF2-2D2A-04E262820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05359"/>
            <a:ext cx="8067879" cy="380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32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DELETE: Removendo Dados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56918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irreversíveis - sempre fazer backup antes</a:t>
            </a:r>
            <a:endParaRPr lang="en-US" sz="900" dirty="0"/>
          </a:p>
        </p:txBody>
      </p:sp>
      <p:pic>
        <p:nvPicPr>
          <p:cNvPr id="5" name="Imagem 4" descr="Interface gráfica do usuário, Texto">
            <a:extLst>
              <a:ext uri="{FF2B5EF4-FFF2-40B4-BE49-F238E27FC236}">
                <a16:creationId xmlns:a16="http://schemas.microsoft.com/office/drawing/2014/main" id="{C104EF26-F415-96F9-CE5C-F2281F3A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2" y="1353857"/>
            <a:ext cx="8084064" cy="31800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de Comparação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249561"/>
            <a:ext cx="7696200" cy="3183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$eq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</a:t>
            </a:r>
            <a:r>
              <a:rPr lang="en-US" sz="1050" b="1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$</a:t>
            </a:r>
            <a:r>
              <a:rPr lang="en-US" sz="1050" b="1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1050" b="1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$</a:t>
            </a:r>
            <a:r>
              <a:rPr lang="en-US" sz="1050" b="1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 array de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$in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em um array de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r>
              <a:rPr lang="en-US" sz="1050" b="1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existe/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$exists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dado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$type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$regex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1BA78-CECF-DF89-EA07-876F6D7E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328E5C-602D-E490-3321-63D6F858229B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Lógicos e Avançados</a:t>
            </a:r>
            <a:endParaRPr lang="en-US" sz="2700" dirty="0"/>
          </a:p>
        </p:txBody>
      </p:sp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D0276E3-E40C-7D9F-8C19-3CF7C765A6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31"/>
          <a:stretch>
            <a:fillRect/>
          </a:stretch>
        </p:blipFill>
        <p:spPr>
          <a:xfrm>
            <a:off x="591079" y="1208098"/>
            <a:ext cx="8097583" cy="228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3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Lógicos e Avançados</a:t>
            </a:r>
            <a:endParaRPr lang="en-US" sz="2700" dirty="0"/>
          </a:p>
        </p:txBody>
      </p:sp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90E176A-1C64-D562-EC8A-2CF3CCB96A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08"/>
          <a:stretch>
            <a:fillRect/>
          </a:stretch>
        </p:blipFill>
        <p:spPr>
          <a:xfrm>
            <a:off x="591079" y="1211126"/>
            <a:ext cx="8102300" cy="24098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8D58A-74E0-7F4B-88E6-8E83FDA4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21A40D-223C-0C99-314C-2BA55C7BBA98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Lógicos e Avançados</a:t>
            </a:r>
            <a:endParaRPr lang="en-US" sz="2700" dirty="0"/>
          </a:p>
        </p:txBody>
      </p:sp>
      <p:pic>
        <p:nvPicPr>
          <p:cNvPr id="6" name="Imagem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0A4BB53-8885-0AC2-8FB8-8356BAE1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07955"/>
            <a:ext cx="8073712" cy="308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14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Aggregation: Análise Poderosa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é </a:t>
            </a:r>
            <a:r>
              <a:rPr lang="en-US" sz="90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 GROUP BY + ORDER BY + JOIN </a:t>
            </a:r>
            <a:r>
              <a:rPr lang="en-US" sz="90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combinados</a:t>
            </a: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7108" y="1485751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Stages: $match, $group, $sort, $project, $skip, $limit, $lookup, $unwind</a:t>
            </a:r>
            <a:endParaRPr lang="en-US" sz="900" dirty="0"/>
          </a:p>
        </p:txBody>
      </p:sp>
      <p:pic>
        <p:nvPicPr>
          <p:cNvPr id="6" name="Imagem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2E7800C-2C6A-307B-9A49-487751BFF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884405"/>
            <a:ext cx="8201155" cy="25533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 Otimização Essencial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8200" y="1249561"/>
            <a:ext cx="7696200" cy="2365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 index: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Padrão para buscas rápidas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index: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Vários campos (crucial para queries complexas)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index: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Remover documentos automaticamente após tempo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index: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Busca full-text em strings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index: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Queries de localização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 index: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Schemaless indexing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Criar índices para campos usados em filtros, sorts, e joins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e Analisando Índices</a:t>
            </a:r>
            <a:endParaRPr lang="en-US" sz="2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Transações ACID Distribuídas (v7.0+)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Atomicidade: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Tudo ou nada - essencial para operações bancárias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Manter integridade dos dados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Isolamento: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Transações não se interferem (snapshot isolation)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Durabilidade: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Dados persistidos em disco/replicas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Suporta transações cross-document e cross-shard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Transação em Prática</a:t>
            </a:r>
            <a:endParaRPr lang="en-US" sz="2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Sets: Redundância e Failover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Primária: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Recebe todas as escritas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Secundárias: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Replicam dados da primária (suportam leituras)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Arbitrador (Arbiter):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Participa de eleições, não armazena dados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Automático: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primária falha, secundária é promovida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Concern: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Quantas réplicas confirmam antes de OK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Preference: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Ler de primária ou secundárias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Sharding: Distribuição Horizontal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Particionamento de dados: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Distribuir entre múltiplos servidores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key: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Campo que determina a partição (crítico!)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bons: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CPF, email, UUID aleatório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ruins: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boolean, enum, campos com baixa cardinalidade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Router que direciona queries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servers: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Armazenam metadados de sharding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Práticas: Modelagem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use _id: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Identificador único obrigatório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Denormalize wisely: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Incorporar dados frequentes, não tudo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 de documento: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Máximo 16MB, mas 10-100KB é ideal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com limite: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Crescimento ilimitado causa problemas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leitura: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Organize como vai consultar, não como normalizaria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Práticas: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indexes primeiro: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dados em produção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operations: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InsertMany/UpdateMany são 10x+ mais rápidos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operations: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operações em larga escala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pooling: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Reutilize conexões (máx 100-500)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Retorne apenas campos necessários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Práticas: Segurança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SCRAM: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Obrigatória em produção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(Role-Based Access Control):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Princípio de menor privilégio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WiredTiger com criptografia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in transit: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TLS/SSL obrigatório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Encryption: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Criptografia sem descriptografar para queries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Rastrear todas as operações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361"/>
            <a:ext cx="8061960" cy="1603367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29129"/>
            <a:ext cx="8083296" cy="1656756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no Setor Bancário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231455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2698" y="1458334"/>
            <a:ext cx="7277100" cy="165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fraude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KYC/AML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cliente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transações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em tempo real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76300" y="2993199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8700" y="3267489"/>
            <a:ext cx="7277100" cy="165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sem downtime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 ilimitada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distribuído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rápidas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pronto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Conformidade: GDPR e Regulações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 be forgotten: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permite deletar com $unset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Zone sharding garante dados em regiões específicas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&amp; Audit: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Todos os requisitos de compliance cobertos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certifications: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ISO 27001, SOC 2, HIPAA, PCI DSS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encryption: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Dados sensíveis (CPF, cartão) criptografados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Global Cluster: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Multi-region com data governance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 do MongoDB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84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Flexibilidade: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Schemaless permite evolução natural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Sharding automático, crescimento horizontal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de desenvolvimento: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Modelo JSON = menos ORM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geoespaciais: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Nativas para location-based services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Aggregation pipeline poderosa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Atlas elimina operações manuais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Ecossistema grande e ativo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Desafios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memória: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Indices e replicação duplicam dados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 operacional: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Sharding é complexo, requer expertise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key imutável: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Escolher errado causa problemas futuros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de 16MB: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Documentos muito grandes são ineficientes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em shards: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Lookup entre shards é lento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Atlas: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Pode ser caro com alto volume de dados/throughput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08139"/>
            <a:ext cx="8083296" cy="1792373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87690"/>
            <a:ext cx="8083296" cy="1792373"/>
          </a:xfrm>
          <a:prstGeom prst="rect">
            <a:avLst/>
          </a:prstGeom>
          <a:solidFill>
            <a:srgbClr val="1A1F3A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(e Quando Evitar)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6300" y="1357342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MongoDB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1637549"/>
            <a:ext cx="7277100" cy="165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semi-estruturados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evolui frequente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volume (100GB+)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Leitura/escrita intensiva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em tempo real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76300" y="3340090"/>
            <a:ext cx="75780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Evite MongoDB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8700" y="3614380"/>
            <a:ext cx="7277100" cy="165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estruturados fixos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 JOINs complexos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Transações multi-table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OLAP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volume de dados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Competitivo: Alternativas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(JSON):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Relacional com suporte JSON - melhor para híbrido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(AWS):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Serverless, mas vendor lock-in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(Google):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Banco de dados em tempo real, mobile-first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Elasticsearch: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Melhor para busca e analytics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CassandraDB: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Time-series, alta disponibilidade, complexo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vence em: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Equilibrio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facilidade e </a:t>
            </a:r>
            <a:r>
              <a:rPr lang="en-US" sz="1350" dirty="0" err="1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e Documentação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84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mongodb.com/docs: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Documentação oficial oficial completa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University: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Cursos gratuitos online (M0-M220)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gratuito (512MB) para testes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Realm Mobile SDK: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Sincronização mobile offline-first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Forums: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developer.mongodb.com/community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Drivers oficiais em todas as linguagens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MongoDB.local: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Conferências em várias cidades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a Linguagens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PyMongo, Motor (async), Mongoengine (ODM)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driver oficial, Mongoose, Prisma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Java Driver, Spring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Official MongoDB Go driver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C#/.NET: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.NET driver, EF Core provider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Ruby, PHP, Scala, Kotlin: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Drivers oficiais suportados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Atlas: Plataforma Cloud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84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&amp; Managed: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cuida de backups, patches,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AWS, Google Cloud, Azure no mesmo cluster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Pague por operações, não por servidores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Search: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Full-text search integrado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Embeddings para IA/ML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Otimizado para dados com timestamp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automático: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PITR (Point-in-Time Recovery)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em Produção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84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Advisor: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Recomenda índices automaticamente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Profiler: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Rastreia queries lentas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Logs: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Diagnóstico de problemas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CPU, memória, conexões, operações por segundo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Manager: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Notificações automáticas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mongostat &amp; mongotop: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Ferramentas CLI para diagnóstico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explain():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Análise detalhada de execução de query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de Design Avançados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vs Reference: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Quando denormalizar vs normalizar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pattern: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Lidar com arrays que crescem muito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pattern: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Manter subset de dados mais acessados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pattern: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Precalcular valores para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pattern: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Agrupar documentos por períodos (time-series)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versioning: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Manter controle de evolução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Streams: Aplicações Reativas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mudanças em tempo real: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2935188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Perfeito para sincronização em tempo real e arquiteturas event-driven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Text Search Avançado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196382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Search ainda mais poderoso com análise tokenizada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Geospatial: Busca por Localização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218855"/>
            <a:ext cx="80832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aplicações que encontram ATMs, agências, pontos de venda próximos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 Recuperação de Desastres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Automated Backups: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Snapshots a cada 6 horas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PITR (Point-in-Time Recovery):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Recuperar a qualquer momento nos últimos 7 dias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mongodump/mongorestore: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Ferramentas para backup manual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Set oplog: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Replicação contínua para failover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Geo-redundancy: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Backups em múltiplas regiões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RTO/RPO: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oferece &lt;5 min RTO, &lt;1 min RPO em Atlas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 Implementação Bancária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Cenário:</a:t>
            </a: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Banco com 10 milhões de clientes, 1000 transações/seg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35999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649462"/>
            <a:ext cx="77724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</a:t>
            </a:r>
            <a:endParaRPr lang="en-US" sz="10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 &lt;100ms</a:t>
            </a:r>
            <a:endParaRPr lang="en-US" sz="10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59779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887266"/>
            <a:ext cx="77724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sharded</a:t>
            </a:r>
            <a:endParaRPr lang="en-US" sz="10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shards (CPF shard key)</a:t>
            </a:r>
            <a:endParaRPr lang="en-US" sz="10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replicas por shard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3835598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4125069"/>
            <a:ext cx="77724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Latência: 15-30ms</a:t>
            </a:r>
            <a:endParaRPr lang="en-US" sz="10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uptime</a:t>
            </a:r>
            <a:endParaRPr lang="en-US" sz="10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downtime em 2 anos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Futuro: Inovações Esperadas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Vector Indexing: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Otimizações de performance para embeddings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Queries: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Melhor suporte para dados históricos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Integration: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Atlas ML (preview) expande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Processing: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Processamento de eventos em tempo real nativo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Analytics: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Analytics integrado com MongoDB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Consumo dinâmico e autoscaling melhorados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para Sua Equipe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Atlas account gratuita: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Explorar com 512MB grátis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MongoDB University: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Certificações M0-M220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em seu projeto: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Começar com uma collection não crítica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Estudar sharding strategy: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Crítico para escala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Estabelecer índices base: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dados em produção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 time em boas práticas: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Erros de schema são caros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6045" y="1636514"/>
            <a:ext cx="513190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e Perguntas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70078" y="2489895"/>
            <a:ext cx="36038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seu caso de uso no banco?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86009" y="3267075"/>
            <a:ext cx="51718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para Q&amp;A, desafios específicos, e planejamento de adoção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0030" y="1036588"/>
            <a:ext cx="238394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36519" y="1813768"/>
            <a:ext cx="5270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é a escolha ideal para empresas que precisam de: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21410" y="2385268"/>
            <a:ext cx="3116550" cy="1721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Escalabilidade ilimitada</a:t>
            </a:r>
            <a:endParaRPr lang="en-US" sz="1350" dirty="0"/>
          </a:p>
          <a:p>
            <a:pPr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Flexibilidade de schema</a:t>
            </a:r>
            <a:endParaRPr lang="en-US" sz="1350" dirty="0"/>
          </a:p>
          <a:p>
            <a:pPr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Performance em tempo real</a:t>
            </a:r>
            <a:endParaRPr lang="en-US" sz="1350" dirty="0"/>
          </a:p>
          <a:p>
            <a:pPr>
              <a:lnSpc>
                <a:spcPts val="2430"/>
              </a:lnSpc>
              <a:buSzPct val="100000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Conformidade regulatória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5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057" y="1676400"/>
            <a:ext cx="222788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06086" y="2529780"/>
            <a:ext cx="49316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modernizar os sistemas bancários com MongoDB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56300" y="3253680"/>
            <a:ext cx="42312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 Contate seu time de TI ou a comunidade MongoDB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2117</Words>
  <Application>Microsoft Office PowerPoint</Application>
  <PresentationFormat>Apresentação na tela (16:9)</PresentationFormat>
  <Paragraphs>352</Paragraphs>
  <Slides>54</Slides>
  <Notes>54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5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Walisson Rodrigo</cp:lastModifiedBy>
  <cp:revision>9</cp:revision>
  <dcterms:created xsi:type="dcterms:W3CDTF">2026-01-15T13:45:38Z</dcterms:created>
  <dcterms:modified xsi:type="dcterms:W3CDTF">2026-01-15T21:16:34Z</dcterms:modified>
</cp:coreProperties>
</file>